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2785-D72C-4947-B20C-51FFE0DCC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535F5-D93D-4663-8E86-080D64D88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60D7-A8DE-437F-9A74-BFBE681B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A1A1D-D660-494E-A4B8-7A4BE3B8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92CDB-0FA3-4AAD-9466-86A102AA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87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352B-D1AB-4EFF-BF9D-5B7DC6E8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0154-F465-41FB-8356-79CC44856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9C5AB-F186-411C-AE7A-432DBE6D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E83D-5D68-4622-8F40-7F92E729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233C-F572-4BF4-96E8-5C232D8A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958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F9C8-FA8A-4DBD-8F8B-AD2E7113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23E35-4597-427A-BEC7-A7FACE76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97-5D2B-4C7F-B567-A2D530EE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CB2C-9F57-47DF-84D1-DCE0DEFB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08D86-8D14-45BA-9EEA-5D14B0C5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713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3723-2473-4132-ABC0-D3BA8961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777C9-751C-4943-BAEC-03FC9867D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ABDA3-89B6-4072-957A-62E5969C6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64C03-2826-43B5-999C-5D1FF274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4E86-2CB1-40B0-A131-2AE0C90C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FD9A2-32E7-4D7C-BEDD-DEFC2C1B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250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9664-9B52-44AB-BB70-44C48CB0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3177D-9E10-4BC5-B950-7D16FB150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3DEA7-2CDF-4F11-955F-DB5C30810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4F142-F0B7-4235-B601-D658875F6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1B170-CC6C-4413-BC9F-08EE1A271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30851-3714-45FD-917D-DA594261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DC54B-B455-4F3D-9408-A5C32118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3ADC4-D253-4D05-8558-4EF726CC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894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D0C9-5401-4FA3-B941-DE1BC39F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B251A-1A2D-4C1A-BCFA-A88D5909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B9314-88DF-4F89-A58A-37B65200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1E649-3DD0-4C85-8F53-ECB752D9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062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5D9EE-7E73-4B5D-961B-BC235F13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F3740C-D2DE-4E75-93E1-8277775A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D75B9-CDE4-4BE0-BC64-30F71AA4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2092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75CD-ED2B-4DA3-8837-3FC79087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365E-555F-4CC8-BD7B-668E0BBB7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02-CAF3-4093-A7E9-2666E8510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0C8BA-862A-4A4B-AEB8-6367E171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EC070-AC10-47CF-A87F-C6DD101A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32541-B218-4992-875A-A9A18BFD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371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A1C8-C6C9-4FED-9BF8-95AA5032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0A97D-D9F1-4D65-B296-D12F30EB3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E5407-316F-47CC-9E3D-2C9A0DBEA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CA623-6D61-46E3-85DE-C1540981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F5D26-75E7-429C-BA25-634AE308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08F02-0B75-4010-8932-24138246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259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7B99-CCE9-4083-BA4B-D992DCD2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73441-5E2F-42C4-A5DE-6CDE3E50A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D6EF-500F-4EE3-A173-12F53251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F760E-7E3B-4D8A-8FC5-57233D29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8DEE1-74F9-4A24-AA97-20DDA112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51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FC040-1CAB-40EB-9AB3-0EADE3D9D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D4DF9-9A7C-425A-A1E8-55DF121AC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87AA1-0702-429D-9253-6C94C3B0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AB60D-FE59-4CD9-931E-65A5DA40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77ED8-0CF9-4AF9-BFF7-2367F94A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065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DE519-BFC1-483A-9C2D-A7F6FED9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75C9-06CD-48AF-AA10-850431BA0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BD4AA-4F9F-41D0-9054-C19515F59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AEA57-BB14-4126-9DE3-68125C07D6BA}" type="datetimeFigureOut">
              <a:rPr lang="es-MX" smtClean="0"/>
              <a:t>31/08/2020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FFF3-6B17-4793-AE14-C0EC066FF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9E032-81C1-401D-8078-8DBFB90C6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2A41A-89C3-46CD-8232-07A1052875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052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mex1">
            <a:extLst>
              <a:ext uri="{FF2B5EF4-FFF2-40B4-BE49-F238E27FC236}">
                <a16:creationId xmlns:a16="http://schemas.microsoft.com/office/drawing/2014/main" id="{4D28C4E3-AF01-4861-A091-F2894104B05E}"/>
              </a:ext>
            </a:extLst>
          </p:cNvPr>
          <p:cNvSpPr/>
          <p:nvPr/>
        </p:nvSpPr>
        <p:spPr>
          <a:xfrm>
            <a:off x="684505" y="449617"/>
            <a:ext cx="1463040" cy="914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apa1">
            <a:extLst>
              <a:ext uri="{FF2B5EF4-FFF2-40B4-BE49-F238E27FC236}">
                <a16:creationId xmlns:a16="http://schemas.microsoft.com/office/drawing/2014/main" id="{C72C22BE-8E1E-4E26-8CB7-223DE59368D1}"/>
              </a:ext>
            </a:extLst>
          </p:cNvPr>
          <p:cNvSpPr/>
          <p:nvPr/>
        </p:nvSpPr>
        <p:spPr>
          <a:xfrm>
            <a:off x="684505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9" name="comex1">
            <a:extLst>
              <a:ext uri="{FF2B5EF4-FFF2-40B4-BE49-F238E27FC236}">
                <a16:creationId xmlns:a16="http://schemas.microsoft.com/office/drawing/2014/main" id="{E897B757-C54E-4B8A-B359-454B5F9217E3}"/>
              </a:ext>
            </a:extLst>
          </p:cNvPr>
          <p:cNvSpPr/>
          <p:nvPr/>
        </p:nvSpPr>
        <p:spPr>
          <a:xfrm>
            <a:off x="684505" y="1723601"/>
            <a:ext cx="1463040" cy="9144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0" name="tapa1">
            <a:extLst>
              <a:ext uri="{FF2B5EF4-FFF2-40B4-BE49-F238E27FC236}">
                <a16:creationId xmlns:a16="http://schemas.microsoft.com/office/drawing/2014/main" id="{DE613DD5-61A3-4F71-92B9-7D772EACB740}"/>
              </a:ext>
            </a:extLst>
          </p:cNvPr>
          <p:cNvSpPr/>
          <p:nvPr/>
        </p:nvSpPr>
        <p:spPr>
          <a:xfrm>
            <a:off x="684505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1" name="comex1">
            <a:extLst>
              <a:ext uri="{FF2B5EF4-FFF2-40B4-BE49-F238E27FC236}">
                <a16:creationId xmlns:a16="http://schemas.microsoft.com/office/drawing/2014/main" id="{1992C55F-AB23-4BE2-9BE8-F095D994A2B2}"/>
              </a:ext>
            </a:extLst>
          </p:cNvPr>
          <p:cNvSpPr/>
          <p:nvPr/>
        </p:nvSpPr>
        <p:spPr>
          <a:xfrm>
            <a:off x="684505" y="2997585"/>
            <a:ext cx="1463040" cy="9144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2" name="tapa1">
            <a:extLst>
              <a:ext uri="{FF2B5EF4-FFF2-40B4-BE49-F238E27FC236}">
                <a16:creationId xmlns:a16="http://schemas.microsoft.com/office/drawing/2014/main" id="{EF7DD336-3873-493C-931E-ABFE52969091}"/>
              </a:ext>
            </a:extLst>
          </p:cNvPr>
          <p:cNvSpPr/>
          <p:nvPr/>
        </p:nvSpPr>
        <p:spPr>
          <a:xfrm>
            <a:off x="684505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3" name="comex1">
            <a:extLst>
              <a:ext uri="{FF2B5EF4-FFF2-40B4-BE49-F238E27FC236}">
                <a16:creationId xmlns:a16="http://schemas.microsoft.com/office/drawing/2014/main" id="{54936FC6-E398-424B-84A3-F9C4A14E6DAC}"/>
              </a:ext>
            </a:extLst>
          </p:cNvPr>
          <p:cNvSpPr/>
          <p:nvPr/>
        </p:nvSpPr>
        <p:spPr>
          <a:xfrm>
            <a:off x="684505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B0F0"/>
                </a:solidFill>
              </a:rPr>
              <a:t>Tienda insignia </a:t>
            </a:r>
            <a:r>
              <a:rPr lang="en-US" sz="1200" dirty="0" err="1">
                <a:solidFill>
                  <a:srgbClr val="00B0F0"/>
                </a:solidFill>
              </a:rPr>
              <a:t>donde</a:t>
            </a:r>
            <a:r>
              <a:rPr lang="en-US" sz="1200" dirty="0">
                <a:solidFill>
                  <a:srgbClr val="00B0F0"/>
                </a:solidFill>
              </a:rPr>
              <a:t> mas del 50% de </a:t>
            </a:r>
            <a:r>
              <a:rPr lang="en-US" sz="1200" dirty="0" err="1">
                <a:solidFill>
                  <a:srgbClr val="00B0F0"/>
                </a:solidFill>
              </a:rPr>
              <a:t>piso</a:t>
            </a:r>
            <a:r>
              <a:rPr lang="en-US" sz="1200" dirty="0">
                <a:solidFill>
                  <a:srgbClr val="00B0F0"/>
                </a:solidFill>
              </a:rPr>
              <a:t> de </a:t>
            </a:r>
            <a:r>
              <a:rPr lang="en-US" sz="1200" dirty="0" err="1">
                <a:solidFill>
                  <a:srgbClr val="00B0F0"/>
                </a:solidFill>
              </a:rPr>
              <a:t>ventas</a:t>
            </a:r>
            <a:r>
              <a:rPr lang="en-US" sz="1200" dirty="0">
                <a:solidFill>
                  <a:srgbClr val="00B0F0"/>
                </a:solidFill>
              </a:rPr>
              <a:t> es para la </a:t>
            </a:r>
            <a:r>
              <a:rPr lang="en-US" sz="1200" dirty="0" err="1">
                <a:solidFill>
                  <a:srgbClr val="00B0F0"/>
                </a:solidFill>
              </a:rPr>
              <a:t>inspiracion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04" name="tapa1">
            <a:extLst>
              <a:ext uri="{FF2B5EF4-FFF2-40B4-BE49-F238E27FC236}">
                <a16:creationId xmlns:a16="http://schemas.microsoft.com/office/drawing/2014/main" id="{C9920C73-7C0D-4D4C-AD91-CF89A44B6D5B}"/>
              </a:ext>
            </a:extLst>
          </p:cNvPr>
          <p:cNvSpPr/>
          <p:nvPr/>
        </p:nvSpPr>
        <p:spPr>
          <a:xfrm>
            <a:off x="684505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5" name="comex1">
            <a:extLst>
              <a:ext uri="{FF2B5EF4-FFF2-40B4-BE49-F238E27FC236}">
                <a16:creationId xmlns:a16="http://schemas.microsoft.com/office/drawing/2014/main" id="{919CB54E-60A2-4F99-89BD-DB42CF17E5F5}"/>
              </a:ext>
            </a:extLst>
          </p:cNvPr>
          <p:cNvSpPr/>
          <p:nvPr/>
        </p:nvSpPr>
        <p:spPr>
          <a:xfrm>
            <a:off x="684505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B0F0"/>
                </a:solidFill>
              </a:rPr>
              <a:t>Toda </a:t>
            </a:r>
            <a:r>
              <a:rPr lang="en-US" sz="1200" dirty="0" err="1">
                <a:solidFill>
                  <a:srgbClr val="00B0F0"/>
                </a:solidFill>
              </a:rPr>
              <a:t>fachada</a:t>
            </a:r>
            <a:r>
              <a:rPr lang="en-US" sz="1200" dirty="0">
                <a:solidFill>
                  <a:srgbClr val="00B0F0"/>
                </a:solidFill>
              </a:rPr>
              <a:t> que </a:t>
            </a:r>
            <a:r>
              <a:rPr lang="en-US" sz="1200" dirty="0" err="1">
                <a:solidFill>
                  <a:srgbClr val="00B0F0"/>
                </a:solidFill>
              </a:rPr>
              <a:t>corresponda</a:t>
            </a:r>
            <a:r>
              <a:rPr lang="en-US" sz="1200" dirty="0">
                <a:solidFill>
                  <a:srgbClr val="00B0F0"/>
                </a:solidFill>
              </a:rPr>
              <a:t> a </a:t>
            </a:r>
            <a:r>
              <a:rPr lang="en-US" sz="1200" dirty="0" err="1">
                <a:solidFill>
                  <a:srgbClr val="00B0F0"/>
                </a:solidFill>
              </a:rPr>
              <a:t>este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formato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debera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tener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este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concepto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06" name="tapa1">
            <a:extLst>
              <a:ext uri="{FF2B5EF4-FFF2-40B4-BE49-F238E27FC236}">
                <a16:creationId xmlns:a16="http://schemas.microsoft.com/office/drawing/2014/main" id="{811F76DE-21A3-4B95-BFCB-1D1CB0FCC3E0}"/>
              </a:ext>
            </a:extLst>
          </p:cNvPr>
          <p:cNvSpPr/>
          <p:nvPr/>
        </p:nvSpPr>
        <p:spPr>
          <a:xfrm>
            <a:off x="684505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7" name="comex1">
            <a:extLst>
              <a:ext uri="{FF2B5EF4-FFF2-40B4-BE49-F238E27FC236}">
                <a16:creationId xmlns:a16="http://schemas.microsoft.com/office/drawing/2014/main" id="{8FE166FA-3B26-4B91-A48F-6EC30D7C346C}"/>
              </a:ext>
            </a:extLst>
          </p:cNvPr>
          <p:cNvSpPr/>
          <p:nvPr/>
        </p:nvSpPr>
        <p:spPr>
          <a:xfrm>
            <a:off x="2541418" y="449617"/>
            <a:ext cx="1463040" cy="9144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8" name="tapa1">
            <a:extLst>
              <a:ext uri="{FF2B5EF4-FFF2-40B4-BE49-F238E27FC236}">
                <a16:creationId xmlns:a16="http://schemas.microsoft.com/office/drawing/2014/main" id="{DA3D0144-39A6-45A6-BAC7-1F40A1737300}"/>
              </a:ext>
            </a:extLst>
          </p:cNvPr>
          <p:cNvSpPr/>
          <p:nvPr/>
        </p:nvSpPr>
        <p:spPr>
          <a:xfrm>
            <a:off x="2541418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9" name="comex1">
            <a:extLst>
              <a:ext uri="{FF2B5EF4-FFF2-40B4-BE49-F238E27FC236}">
                <a16:creationId xmlns:a16="http://schemas.microsoft.com/office/drawing/2014/main" id="{4316C4AE-D494-4CD6-BD45-1B848947B45E}"/>
              </a:ext>
            </a:extLst>
          </p:cNvPr>
          <p:cNvSpPr/>
          <p:nvPr/>
        </p:nvSpPr>
        <p:spPr>
          <a:xfrm>
            <a:off x="2541418" y="1723601"/>
            <a:ext cx="1463040" cy="91440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" name="tapa1">
            <a:extLst>
              <a:ext uri="{FF2B5EF4-FFF2-40B4-BE49-F238E27FC236}">
                <a16:creationId xmlns:a16="http://schemas.microsoft.com/office/drawing/2014/main" id="{68199662-B9AA-4825-A3A0-6980306CFFC2}"/>
              </a:ext>
            </a:extLst>
          </p:cNvPr>
          <p:cNvSpPr/>
          <p:nvPr/>
        </p:nvSpPr>
        <p:spPr>
          <a:xfrm>
            <a:off x="2541418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" name="comex1">
            <a:extLst>
              <a:ext uri="{FF2B5EF4-FFF2-40B4-BE49-F238E27FC236}">
                <a16:creationId xmlns:a16="http://schemas.microsoft.com/office/drawing/2014/main" id="{7960F2EA-C22B-46B7-829E-45552D4760C4}"/>
              </a:ext>
            </a:extLst>
          </p:cNvPr>
          <p:cNvSpPr/>
          <p:nvPr/>
        </p:nvSpPr>
        <p:spPr>
          <a:xfrm>
            <a:off x="2541418" y="2997585"/>
            <a:ext cx="1463040" cy="91440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" name="tapa1">
            <a:extLst>
              <a:ext uri="{FF2B5EF4-FFF2-40B4-BE49-F238E27FC236}">
                <a16:creationId xmlns:a16="http://schemas.microsoft.com/office/drawing/2014/main" id="{61ED83A2-CED2-4BC2-89E2-0A348B60EA7C}"/>
              </a:ext>
            </a:extLst>
          </p:cNvPr>
          <p:cNvSpPr/>
          <p:nvPr/>
        </p:nvSpPr>
        <p:spPr>
          <a:xfrm>
            <a:off x="2541418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" name="comex1">
            <a:extLst>
              <a:ext uri="{FF2B5EF4-FFF2-40B4-BE49-F238E27FC236}">
                <a16:creationId xmlns:a16="http://schemas.microsoft.com/office/drawing/2014/main" id="{32586DDE-1638-476A-847E-46F295D8836C}"/>
              </a:ext>
            </a:extLst>
          </p:cNvPr>
          <p:cNvSpPr/>
          <p:nvPr/>
        </p:nvSpPr>
        <p:spPr>
          <a:xfrm>
            <a:off x="2541418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00B0F0"/>
                </a:solidFill>
              </a:rPr>
              <a:t>Sobre</a:t>
            </a:r>
            <a:r>
              <a:rPr lang="en-US" sz="1200" dirty="0">
                <a:solidFill>
                  <a:srgbClr val="00B0F0"/>
                </a:solidFill>
              </a:rPr>
              <a:t> el </a:t>
            </a:r>
            <a:r>
              <a:rPr lang="en-US" sz="1200" dirty="0" err="1">
                <a:solidFill>
                  <a:srgbClr val="00B0F0"/>
                </a:solidFill>
              </a:rPr>
              <a:t>mostrador</a:t>
            </a:r>
            <a:r>
              <a:rPr lang="en-US" sz="1200" dirty="0">
                <a:solidFill>
                  <a:srgbClr val="00B0F0"/>
                </a:solidFill>
              </a:rPr>
              <a:t>, </a:t>
            </a:r>
            <a:r>
              <a:rPr lang="en-US" sz="1200" dirty="0" err="1">
                <a:solidFill>
                  <a:srgbClr val="00B0F0"/>
                </a:solidFill>
              </a:rPr>
              <a:t>atras</a:t>
            </a:r>
            <a:r>
              <a:rPr lang="en-US" sz="1200" dirty="0">
                <a:solidFill>
                  <a:srgbClr val="00B0F0"/>
                </a:solidFill>
              </a:rPr>
              <a:t> del </a:t>
            </a:r>
            <a:r>
              <a:rPr lang="en-US" sz="1200" dirty="0" err="1">
                <a:solidFill>
                  <a:srgbClr val="00B0F0"/>
                </a:solidFill>
              </a:rPr>
              <a:t>paso</a:t>
            </a:r>
            <a:r>
              <a:rPr lang="en-US" sz="1200" dirty="0">
                <a:solidFill>
                  <a:srgbClr val="00B0F0"/>
                </a:solidFill>
              </a:rPr>
              <a:t> que </a:t>
            </a:r>
            <a:r>
              <a:rPr lang="en-US" sz="1200" dirty="0" err="1">
                <a:solidFill>
                  <a:srgbClr val="00B0F0"/>
                </a:solidFill>
              </a:rPr>
              <a:t>permita</a:t>
            </a:r>
            <a:r>
              <a:rPr lang="en-US" sz="1200" dirty="0">
                <a:solidFill>
                  <a:srgbClr val="00B0F0"/>
                </a:solidFill>
              </a:rPr>
              <a:t> el  </a:t>
            </a:r>
            <a:r>
              <a:rPr lang="en-US" sz="1200" dirty="0" err="1">
                <a:solidFill>
                  <a:srgbClr val="00B0F0"/>
                </a:solidFill>
              </a:rPr>
              <a:t>movimiento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14" name="tapa1">
            <a:extLst>
              <a:ext uri="{FF2B5EF4-FFF2-40B4-BE49-F238E27FC236}">
                <a16:creationId xmlns:a16="http://schemas.microsoft.com/office/drawing/2014/main" id="{9EB30499-881F-4C83-A4AB-D1FB538A2490}"/>
              </a:ext>
            </a:extLst>
          </p:cNvPr>
          <p:cNvSpPr/>
          <p:nvPr/>
        </p:nvSpPr>
        <p:spPr>
          <a:xfrm>
            <a:off x="2541418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5" name="comex1">
            <a:extLst>
              <a:ext uri="{FF2B5EF4-FFF2-40B4-BE49-F238E27FC236}">
                <a16:creationId xmlns:a16="http://schemas.microsoft.com/office/drawing/2014/main" id="{10ECC25C-96A2-4C99-87C6-B04F511F2DA2}"/>
              </a:ext>
            </a:extLst>
          </p:cNvPr>
          <p:cNvSpPr/>
          <p:nvPr/>
        </p:nvSpPr>
        <p:spPr>
          <a:xfrm>
            <a:off x="2541418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0B0F0"/>
                </a:solidFill>
              </a:rPr>
              <a:t>La </a:t>
            </a:r>
            <a:r>
              <a:rPr lang="en-US" sz="1050" dirty="0" err="1">
                <a:solidFill>
                  <a:srgbClr val="00B0F0"/>
                </a:solidFill>
              </a:rPr>
              <a:t>correcta</a:t>
            </a:r>
            <a:r>
              <a:rPr lang="en-US" sz="1050" dirty="0">
                <a:solidFill>
                  <a:srgbClr val="00B0F0"/>
                </a:solidFill>
              </a:rPr>
              <a:t> </a:t>
            </a:r>
            <a:r>
              <a:rPr lang="en-US" sz="1050" dirty="0" err="1">
                <a:solidFill>
                  <a:srgbClr val="00B0F0"/>
                </a:solidFill>
              </a:rPr>
              <a:t>exhibicion</a:t>
            </a:r>
            <a:r>
              <a:rPr lang="en-US" sz="1050" dirty="0">
                <a:solidFill>
                  <a:srgbClr val="00B0F0"/>
                </a:solidFill>
              </a:rPr>
              <a:t> del Sistema de </a:t>
            </a:r>
            <a:r>
              <a:rPr lang="en-US" sz="1050" dirty="0" err="1">
                <a:solidFill>
                  <a:srgbClr val="00B0F0"/>
                </a:solidFill>
              </a:rPr>
              <a:t>aplicacion</a:t>
            </a:r>
            <a:r>
              <a:rPr lang="en-US" sz="1050" dirty="0">
                <a:solidFill>
                  <a:srgbClr val="00B0F0"/>
                </a:solidFill>
              </a:rPr>
              <a:t>  da </a:t>
            </a:r>
            <a:r>
              <a:rPr lang="en-US" sz="1050" dirty="0" err="1">
                <a:solidFill>
                  <a:srgbClr val="00B0F0"/>
                </a:solidFill>
              </a:rPr>
              <a:t>como</a:t>
            </a:r>
            <a:r>
              <a:rPr lang="en-US" sz="1050" dirty="0">
                <a:solidFill>
                  <a:srgbClr val="00B0F0"/>
                </a:solidFill>
              </a:rPr>
              <a:t> </a:t>
            </a:r>
            <a:r>
              <a:rPr lang="en-US" sz="1050" dirty="0" err="1">
                <a:solidFill>
                  <a:srgbClr val="00B0F0"/>
                </a:solidFill>
              </a:rPr>
              <a:t>resultado</a:t>
            </a:r>
            <a:r>
              <a:rPr lang="en-US" sz="1050" dirty="0">
                <a:solidFill>
                  <a:srgbClr val="00B0F0"/>
                </a:solidFill>
              </a:rPr>
              <a:t>  4 </a:t>
            </a:r>
            <a:r>
              <a:rPr lang="en-US" sz="1050" dirty="0" err="1">
                <a:solidFill>
                  <a:srgbClr val="00B0F0"/>
                </a:solidFill>
              </a:rPr>
              <a:t>veces</a:t>
            </a:r>
            <a:r>
              <a:rPr lang="en-US" sz="1050" dirty="0">
                <a:solidFill>
                  <a:srgbClr val="00B0F0"/>
                </a:solidFill>
              </a:rPr>
              <a:t> mas </a:t>
            </a:r>
            <a:r>
              <a:rPr lang="en-US" sz="1050" dirty="0" err="1">
                <a:solidFill>
                  <a:srgbClr val="00B0F0"/>
                </a:solidFill>
              </a:rPr>
              <a:t>articulos</a:t>
            </a:r>
            <a:r>
              <a:rPr lang="en-US" sz="1050" dirty="0">
                <a:solidFill>
                  <a:srgbClr val="00B0F0"/>
                </a:solidFill>
              </a:rPr>
              <a:t> por ticket</a:t>
            </a:r>
            <a:endParaRPr lang="es-MX" sz="1050" dirty="0">
              <a:solidFill>
                <a:srgbClr val="00B0F0"/>
              </a:solidFill>
            </a:endParaRPr>
          </a:p>
        </p:txBody>
      </p:sp>
      <p:sp>
        <p:nvSpPr>
          <p:cNvPr id="116" name="tapa1">
            <a:extLst>
              <a:ext uri="{FF2B5EF4-FFF2-40B4-BE49-F238E27FC236}">
                <a16:creationId xmlns:a16="http://schemas.microsoft.com/office/drawing/2014/main" id="{93978800-A8AA-467A-B332-A730810A1F1E}"/>
              </a:ext>
            </a:extLst>
          </p:cNvPr>
          <p:cNvSpPr/>
          <p:nvPr/>
        </p:nvSpPr>
        <p:spPr>
          <a:xfrm>
            <a:off x="2541418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7" name="comex1">
            <a:extLst>
              <a:ext uri="{FF2B5EF4-FFF2-40B4-BE49-F238E27FC236}">
                <a16:creationId xmlns:a16="http://schemas.microsoft.com/office/drawing/2014/main" id="{189B746E-6A20-48AE-BBA6-CC6E3CF717C0}"/>
              </a:ext>
            </a:extLst>
          </p:cNvPr>
          <p:cNvSpPr/>
          <p:nvPr/>
        </p:nvSpPr>
        <p:spPr>
          <a:xfrm>
            <a:off x="4398331" y="449617"/>
            <a:ext cx="1463040" cy="914400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8" name="tapa1">
            <a:extLst>
              <a:ext uri="{FF2B5EF4-FFF2-40B4-BE49-F238E27FC236}">
                <a16:creationId xmlns:a16="http://schemas.microsoft.com/office/drawing/2014/main" id="{A40D4665-4810-4FE4-AD25-394948B0CEAD}"/>
              </a:ext>
            </a:extLst>
          </p:cNvPr>
          <p:cNvSpPr/>
          <p:nvPr/>
        </p:nvSpPr>
        <p:spPr>
          <a:xfrm>
            <a:off x="4398331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9" name="comex1">
            <a:extLst>
              <a:ext uri="{FF2B5EF4-FFF2-40B4-BE49-F238E27FC236}">
                <a16:creationId xmlns:a16="http://schemas.microsoft.com/office/drawing/2014/main" id="{96A1D75B-DE11-4A68-9D7E-525F19EC8F27}"/>
              </a:ext>
            </a:extLst>
          </p:cNvPr>
          <p:cNvSpPr/>
          <p:nvPr/>
        </p:nvSpPr>
        <p:spPr>
          <a:xfrm>
            <a:off x="4398331" y="1723601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00B0F0"/>
                </a:solidFill>
              </a:rPr>
              <a:t>Cuando</a:t>
            </a:r>
            <a:r>
              <a:rPr lang="en-US" sz="1200" dirty="0">
                <a:solidFill>
                  <a:srgbClr val="00B0F0"/>
                </a:solidFill>
              </a:rPr>
              <a:t> el </a:t>
            </a:r>
            <a:r>
              <a:rPr lang="en-US" sz="1200" dirty="0" err="1">
                <a:solidFill>
                  <a:srgbClr val="00B0F0"/>
                </a:solidFill>
              </a:rPr>
              <a:t>cliente</a:t>
            </a:r>
            <a:r>
              <a:rPr lang="en-US" sz="1200" dirty="0">
                <a:solidFill>
                  <a:srgbClr val="00B0F0"/>
                </a:solidFill>
              </a:rPr>
              <a:t> la </a:t>
            </a:r>
            <a:r>
              <a:rPr lang="en-US" sz="1200" dirty="0" err="1">
                <a:solidFill>
                  <a:srgbClr val="00B0F0"/>
                </a:solidFill>
              </a:rPr>
              <a:t>visita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incrementa</a:t>
            </a:r>
            <a:r>
              <a:rPr lang="en-US" sz="1200" dirty="0">
                <a:solidFill>
                  <a:srgbClr val="00B0F0"/>
                </a:solidFill>
              </a:rPr>
              <a:t>  2.1% </a:t>
            </a:r>
            <a:r>
              <a:rPr lang="en-US" sz="1200" dirty="0" err="1">
                <a:solidFill>
                  <a:srgbClr val="00B0F0"/>
                </a:solidFill>
              </a:rPr>
              <a:t>veces</a:t>
            </a:r>
            <a:r>
              <a:rPr lang="en-US" sz="1200" dirty="0">
                <a:solidFill>
                  <a:srgbClr val="00B0F0"/>
                </a:solidFill>
              </a:rPr>
              <a:t> el ticket </a:t>
            </a:r>
            <a:r>
              <a:rPr lang="en-US" sz="1200" dirty="0" err="1">
                <a:solidFill>
                  <a:srgbClr val="00B0F0"/>
                </a:solidFill>
              </a:rPr>
              <a:t>promedio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20" name="tapa1">
            <a:extLst>
              <a:ext uri="{FF2B5EF4-FFF2-40B4-BE49-F238E27FC236}">
                <a16:creationId xmlns:a16="http://schemas.microsoft.com/office/drawing/2014/main" id="{74AA1089-726E-42E1-94B1-9147C6C42F6B}"/>
              </a:ext>
            </a:extLst>
          </p:cNvPr>
          <p:cNvSpPr/>
          <p:nvPr/>
        </p:nvSpPr>
        <p:spPr>
          <a:xfrm>
            <a:off x="4398331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1" name="comex1">
            <a:extLst>
              <a:ext uri="{FF2B5EF4-FFF2-40B4-BE49-F238E27FC236}">
                <a16:creationId xmlns:a16="http://schemas.microsoft.com/office/drawing/2014/main" id="{93722D53-CA41-4A93-9E79-BA5A960CD455}"/>
              </a:ext>
            </a:extLst>
          </p:cNvPr>
          <p:cNvSpPr/>
          <p:nvPr/>
        </p:nvSpPr>
        <p:spPr>
          <a:xfrm>
            <a:off x="4398331" y="2997585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Tiendas </a:t>
            </a:r>
            <a:r>
              <a:rPr lang="en-US" sz="1400" dirty="0" err="1">
                <a:solidFill>
                  <a:srgbClr val="00B0F0"/>
                </a:solidFill>
              </a:rPr>
              <a:t>abiertas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donde</a:t>
            </a:r>
            <a:r>
              <a:rPr lang="en-US" sz="1400" dirty="0">
                <a:solidFill>
                  <a:srgbClr val="00B0F0"/>
                </a:solidFill>
              </a:rPr>
              <a:t> el </a:t>
            </a:r>
            <a:r>
              <a:rPr lang="en-US" sz="1400" dirty="0" err="1">
                <a:solidFill>
                  <a:srgbClr val="00B0F0"/>
                </a:solidFill>
              </a:rPr>
              <a:t>cliente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puede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recorrer</a:t>
            </a:r>
            <a:r>
              <a:rPr lang="en-US" sz="1400" dirty="0">
                <a:solidFill>
                  <a:srgbClr val="00B0F0"/>
                </a:solidFill>
              </a:rPr>
              <a:t> </a:t>
            </a:r>
            <a:r>
              <a:rPr lang="en-US" sz="1400" dirty="0" err="1">
                <a:solidFill>
                  <a:srgbClr val="00B0F0"/>
                </a:solidFill>
              </a:rPr>
              <a:t>todas</a:t>
            </a:r>
            <a:r>
              <a:rPr lang="en-US" sz="1400" dirty="0">
                <a:solidFill>
                  <a:srgbClr val="00B0F0"/>
                </a:solidFill>
              </a:rPr>
              <a:t> las areas</a:t>
            </a:r>
            <a:endParaRPr lang="es-MX" sz="1400" dirty="0">
              <a:solidFill>
                <a:srgbClr val="00B0F0"/>
              </a:solidFill>
            </a:endParaRPr>
          </a:p>
        </p:txBody>
      </p:sp>
      <p:sp>
        <p:nvSpPr>
          <p:cNvPr id="122" name="tapa1">
            <a:extLst>
              <a:ext uri="{FF2B5EF4-FFF2-40B4-BE49-F238E27FC236}">
                <a16:creationId xmlns:a16="http://schemas.microsoft.com/office/drawing/2014/main" id="{6E589E4B-6F2D-4C16-84DF-025A9F1E1E7F}"/>
              </a:ext>
            </a:extLst>
          </p:cNvPr>
          <p:cNvSpPr/>
          <p:nvPr/>
        </p:nvSpPr>
        <p:spPr>
          <a:xfrm>
            <a:off x="4398331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3" name="comex1">
            <a:extLst>
              <a:ext uri="{FF2B5EF4-FFF2-40B4-BE49-F238E27FC236}">
                <a16:creationId xmlns:a16="http://schemas.microsoft.com/office/drawing/2014/main" id="{A1E7A559-539F-4D86-A8AC-F1D0445B5BD5}"/>
              </a:ext>
            </a:extLst>
          </p:cNvPr>
          <p:cNvSpPr/>
          <p:nvPr/>
        </p:nvSpPr>
        <p:spPr>
          <a:xfrm>
            <a:off x="4398331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F0"/>
                </a:solidFill>
              </a:rPr>
              <a:t>Son tiendas de </a:t>
            </a:r>
            <a:r>
              <a:rPr lang="en-US" sz="1600" dirty="0" err="1">
                <a:solidFill>
                  <a:srgbClr val="00B0F0"/>
                </a:solidFill>
              </a:rPr>
              <a:t>formato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abierto</a:t>
            </a:r>
            <a:r>
              <a:rPr lang="en-US" sz="1600" dirty="0">
                <a:solidFill>
                  <a:srgbClr val="00B0F0"/>
                </a:solidFill>
              </a:rPr>
              <a:t> con </a:t>
            </a:r>
            <a:r>
              <a:rPr lang="en-US" sz="1600" dirty="0" err="1">
                <a:solidFill>
                  <a:srgbClr val="00B0F0"/>
                </a:solidFill>
              </a:rPr>
              <a:t>oferta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basica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124" name="tapa1">
            <a:extLst>
              <a:ext uri="{FF2B5EF4-FFF2-40B4-BE49-F238E27FC236}">
                <a16:creationId xmlns:a16="http://schemas.microsoft.com/office/drawing/2014/main" id="{F7EFD998-B43B-4325-BCEB-0AA1E215954F}"/>
              </a:ext>
            </a:extLst>
          </p:cNvPr>
          <p:cNvSpPr/>
          <p:nvPr/>
        </p:nvSpPr>
        <p:spPr>
          <a:xfrm>
            <a:off x="4398331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5" name="comex1">
            <a:extLst>
              <a:ext uri="{FF2B5EF4-FFF2-40B4-BE49-F238E27FC236}">
                <a16:creationId xmlns:a16="http://schemas.microsoft.com/office/drawing/2014/main" id="{0BD07273-DD20-470C-AAF3-646ED73A9D10}"/>
              </a:ext>
            </a:extLst>
          </p:cNvPr>
          <p:cNvSpPr/>
          <p:nvPr/>
        </p:nvSpPr>
        <p:spPr>
          <a:xfrm>
            <a:off x="4398331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En</a:t>
            </a:r>
            <a:r>
              <a:rPr lang="en-US" sz="1400" dirty="0">
                <a:solidFill>
                  <a:srgbClr val="00B0F0"/>
                </a:solidFill>
              </a:rPr>
              <a:t> un sitio </a:t>
            </a:r>
            <a:r>
              <a:rPr lang="en-US" sz="1400" dirty="0" err="1">
                <a:solidFill>
                  <a:srgbClr val="00B0F0"/>
                </a:solidFill>
              </a:rPr>
              <a:t>cercano</a:t>
            </a:r>
            <a:r>
              <a:rPr lang="en-US" sz="1400" dirty="0">
                <a:solidFill>
                  <a:srgbClr val="00B0F0"/>
                </a:solidFill>
              </a:rPr>
              <a:t> a la zona de </a:t>
            </a:r>
            <a:r>
              <a:rPr lang="en-US" sz="1400" dirty="0" err="1">
                <a:solidFill>
                  <a:srgbClr val="00B0F0"/>
                </a:solidFill>
              </a:rPr>
              <a:t>atencion</a:t>
            </a:r>
            <a:r>
              <a:rPr lang="en-US" sz="1400" dirty="0">
                <a:solidFill>
                  <a:srgbClr val="00B0F0"/>
                </a:solidFill>
              </a:rPr>
              <a:t> al </a:t>
            </a:r>
            <a:r>
              <a:rPr lang="en-US" sz="1400" dirty="0" err="1">
                <a:solidFill>
                  <a:srgbClr val="00B0F0"/>
                </a:solidFill>
              </a:rPr>
              <a:t>cliente</a:t>
            </a:r>
            <a:endParaRPr lang="es-MX" sz="1400" dirty="0">
              <a:solidFill>
                <a:srgbClr val="00B0F0"/>
              </a:solidFill>
            </a:endParaRPr>
          </a:p>
        </p:txBody>
      </p:sp>
      <p:sp>
        <p:nvSpPr>
          <p:cNvPr id="126" name="tapa1">
            <a:extLst>
              <a:ext uri="{FF2B5EF4-FFF2-40B4-BE49-F238E27FC236}">
                <a16:creationId xmlns:a16="http://schemas.microsoft.com/office/drawing/2014/main" id="{02C799A6-6578-4EB0-8561-DE6DBB2BD220}"/>
              </a:ext>
            </a:extLst>
          </p:cNvPr>
          <p:cNvSpPr/>
          <p:nvPr/>
        </p:nvSpPr>
        <p:spPr>
          <a:xfrm>
            <a:off x="4398331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7" name="comex1">
            <a:extLst>
              <a:ext uri="{FF2B5EF4-FFF2-40B4-BE49-F238E27FC236}">
                <a16:creationId xmlns:a16="http://schemas.microsoft.com/office/drawing/2014/main" id="{A4588398-2327-4E16-8023-123B53C1C640}"/>
              </a:ext>
            </a:extLst>
          </p:cNvPr>
          <p:cNvSpPr/>
          <p:nvPr/>
        </p:nvSpPr>
        <p:spPr>
          <a:xfrm>
            <a:off x="6255244" y="449617"/>
            <a:ext cx="1463040" cy="914400"/>
          </a:xfrm>
          <a:prstGeom prst="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8" name="tapa1">
            <a:extLst>
              <a:ext uri="{FF2B5EF4-FFF2-40B4-BE49-F238E27FC236}">
                <a16:creationId xmlns:a16="http://schemas.microsoft.com/office/drawing/2014/main" id="{A5BF2825-BE20-4DFB-BC50-6B75500C559B}"/>
              </a:ext>
            </a:extLst>
          </p:cNvPr>
          <p:cNvSpPr/>
          <p:nvPr/>
        </p:nvSpPr>
        <p:spPr>
          <a:xfrm>
            <a:off x="6255244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9" name="comex1">
            <a:extLst>
              <a:ext uri="{FF2B5EF4-FFF2-40B4-BE49-F238E27FC236}">
                <a16:creationId xmlns:a16="http://schemas.microsoft.com/office/drawing/2014/main" id="{335306D5-8DBC-4BF1-9973-02ADC6430B77}"/>
              </a:ext>
            </a:extLst>
          </p:cNvPr>
          <p:cNvSpPr/>
          <p:nvPr/>
        </p:nvSpPr>
        <p:spPr>
          <a:xfrm>
            <a:off x="6255244" y="1723601"/>
            <a:ext cx="1463040" cy="914400"/>
          </a:xfrm>
          <a:prstGeom prst="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0" name="tapa1">
            <a:extLst>
              <a:ext uri="{FF2B5EF4-FFF2-40B4-BE49-F238E27FC236}">
                <a16:creationId xmlns:a16="http://schemas.microsoft.com/office/drawing/2014/main" id="{AC3A2499-B362-46C9-BF42-62F8884931E5}"/>
              </a:ext>
            </a:extLst>
          </p:cNvPr>
          <p:cNvSpPr/>
          <p:nvPr/>
        </p:nvSpPr>
        <p:spPr>
          <a:xfrm>
            <a:off x="6255244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1" name="comex1">
            <a:extLst>
              <a:ext uri="{FF2B5EF4-FFF2-40B4-BE49-F238E27FC236}">
                <a16:creationId xmlns:a16="http://schemas.microsoft.com/office/drawing/2014/main" id="{BBCBD543-2CD2-4D82-A041-2162DDF74A3B}"/>
              </a:ext>
            </a:extLst>
          </p:cNvPr>
          <p:cNvSpPr/>
          <p:nvPr/>
        </p:nvSpPr>
        <p:spPr>
          <a:xfrm>
            <a:off x="6255244" y="2997585"/>
            <a:ext cx="1463040" cy="914400"/>
          </a:xfrm>
          <a:prstGeom prst="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2" name="tapa1">
            <a:extLst>
              <a:ext uri="{FF2B5EF4-FFF2-40B4-BE49-F238E27FC236}">
                <a16:creationId xmlns:a16="http://schemas.microsoft.com/office/drawing/2014/main" id="{7E2364FE-F9AE-4E7E-9D68-A5901EFC3158}"/>
              </a:ext>
            </a:extLst>
          </p:cNvPr>
          <p:cNvSpPr/>
          <p:nvPr/>
        </p:nvSpPr>
        <p:spPr>
          <a:xfrm>
            <a:off x="6255244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3" name="comex1">
            <a:extLst>
              <a:ext uri="{FF2B5EF4-FFF2-40B4-BE49-F238E27FC236}">
                <a16:creationId xmlns:a16="http://schemas.microsoft.com/office/drawing/2014/main" id="{3BDDC024-D6B7-4D1D-9DFA-0CE5BE0FE54D}"/>
              </a:ext>
            </a:extLst>
          </p:cNvPr>
          <p:cNvSpPr/>
          <p:nvPr/>
        </p:nvSpPr>
        <p:spPr>
          <a:xfrm>
            <a:off x="6255244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Vista interior, </a:t>
            </a:r>
            <a:r>
              <a:rPr lang="en-US" dirty="0" err="1">
                <a:solidFill>
                  <a:srgbClr val="00B0F0"/>
                </a:solidFill>
              </a:rPr>
              <a:t>exhibicion</a:t>
            </a:r>
            <a:r>
              <a:rPr lang="en-US" dirty="0">
                <a:solidFill>
                  <a:srgbClr val="00B0F0"/>
                </a:solidFill>
              </a:rPr>
              <a:t> de </a:t>
            </a:r>
            <a:r>
              <a:rPr lang="en-US" dirty="0" err="1">
                <a:solidFill>
                  <a:srgbClr val="00B0F0"/>
                </a:solidFill>
              </a:rPr>
              <a:t>producto</a:t>
            </a:r>
            <a:endParaRPr lang="es-MX" dirty="0">
              <a:solidFill>
                <a:srgbClr val="00B0F0"/>
              </a:solidFill>
            </a:endParaRPr>
          </a:p>
        </p:txBody>
      </p:sp>
      <p:sp>
        <p:nvSpPr>
          <p:cNvPr id="134" name="tapa1">
            <a:extLst>
              <a:ext uri="{FF2B5EF4-FFF2-40B4-BE49-F238E27FC236}">
                <a16:creationId xmlns:a16="http://schemas.microsoft.com/office/drawing/2014/main" id="{4103227A-52AC-4B0E-BA9E-6FC241E229C6}"/>
              </a:ext>
            </a:extLst>
          </p:cNvPr>
          <p:cNvSpPr/>
          <p:nvPr/>
        </p:nvSpPr>
        <p:spPr>
          <a:xfrm>
            <a:off x="6255244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5" name="comex1">
            <a:extLst>
              <a:ext uri="{FF2B5EF4-FFF2-40B4-BE49-F238E27FC236}">
                <a16:creationId xmlns:a16="http://schemas.microsoft.com/office/drawing/2014/main" id="{EE257477-6082-4EAC-827D-3DE7E99B728F}"/>
              </a:ext>
            </a:extLst>
          </p:cNvPr>
          <p:cNvSpPr/>
          <p:nvPr/>
        </p:nvSpPr>
        <p:spPr>
          <a:xfrm>
            <a:off x="6255244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00B0F0"/>
                </a:solidFill>
              </a:rPr>
              <a:t>Cuando</a:t>
            </a:r>
            <a:r>
              <a:rPr lang="en-US" sz="1200" dirty="0">
                <a:solidFill>
                  <a:srgbClr val="00B0F0"/>
                </a:solidFill>
              </a:rPr>
              <a:t> se </a:t>
            </a:r>
            <a:r>
              <a:rPr lang="en-US" sz="1200" dirty="0" err="1">
                <a:solidFill>
                  <a:srgbClr val="00B0F0"/>
                </a:solidFill>
              </a:rPr>
              <a:t>realiza</a:t>
            </a:r>
            <a:r>
              <a:rPr lang="en-US" sz="1200" dirty="0">
                <a:solidFill>
                  <a:srgbClr val="00B0F0"/>
                </a:solidFill>
              </a:rPr>
              <a:t> el </a:t>
            </a:r>
            <a:r>
              <a:rPr lang="en-US" sz="1200" dirty="0" err="1">
                <a:solidFill>
                  <a:srgbClr val="00B0F0"/>
                </a:solidFill>
              </a:rPr>
              <a:t>recorrido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completo</a:t>
            </a:r>
            <a:r>
              <a:rPr lang="en-US" sz="1200" dirty="0">
                <a:solidFill>
                  <a:srgbClr val="00B0F0"/>
                </a:solidFill>
              </a:rPr>
              <a:t> se </a:t>
            </a:r>
            <a:r>
              <a:rPr lang="en-US" sz="1200" dirty="0" err="1">
                <a:solidFill>
                  <a:srgbClr val="00B0F0"/>
                </a:solidFill>
              </a:rPr>
              <a:t>aumenta</a:t>
            </a:r>
            <a:r>
              <a:rPr lang="en-US" sz="1200" dirty="0">
                <a:solidFill>
                  <a:srgbClr val="00B0F0"/>
                </a:solidFill>
              </a:rPr>
              <a:t> 5.5 </a:t>
            </a:r>
            <a:r>
              <a:rPr lang="en-US" sz="1200" dirty="0" err="1">
                <a:solidFill>
                  <a:srgbClr val="00B0F0"/>
                </a:solidFill>
              </a:rPr>
              <a:t>veces</a:t>
            </a:r>
            <a:r>
              <a:rPr lang="en-US" sz="1200" dirty="0">
                <a:solidFill>
                  <a:srgbClr val="00B0F0"/>
                </a:solidFill>
              </a:rPr>
              <a:t> el ticket </a:t>
            </a:r>
            <a:r>
              <a:rPr lang="en-US" sz="1200" dirty="0" err="1">
                <a:solidFill>
                  <a:srgbClr val="00B0F0"/>
                </a:solidFill>
              </a:rPr>
              <a:t>promedio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36" name="tapa1">
            <a:extLst>
              <a:ext uri="{FF2B5EF4-FFF2-40B4-BE49-F238E27FC236}">
                <a16:creationId xmlns:a16="http://schemas.microsoft.com/office/drawing/2014/main" id="{5998E752-A8C0-4B10-AF4E-3EDE5BDCB686}"/>
              </a:ext>
            </a:extLst>
          </p:cNvPr>
          <p:cNvSpPr/>
          <p:nvPr/>
        </p:nvSpPr>
        <p:spPr>
          <a:xfrm>
            <a:off x="6255244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7" name="comex1">
            <a:extLst>
              <a:ext uri="{FF2B5EF4-FFF2-40B4-BE49-F238E27FC236}">
                <a16:creationId xmlns:a16="http://schemas.microsoft.com/office/drawing/2014/main" id="{3EF1B845-5994-426A-93B2-AE7412506443}"/>
              </a:ext>
            </a:extLst>
          </p:cNvPr>
          <p:cNvSpPr/>
          <p:nvPr/>
        </p:nvSpPr>
        <p:spPr>
          <a:xfrm>
            <a:off x="8112157" y="449617"/>
            <a:ext cx="1463040" cy="914400"/>
          </a:xfrm>
          <a:prstGeom prst="rect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8" name="tapa1">
            <a:extLst>
              <a:ext uri="{FF2B5EF4-FFF2-40B4-BE49-F238E27FC236}">
                <a16:creationId xmlns:a16="http://schemas.microsoft.com/office/drawing/2014/main" id="{7EF9A6D5-E29A-4B98-85D4-3B23E9AFA7C3}"/>
              </a:ext>
            </a:extLst>
          </p:cNvPr>
          <p:cNvSpPr/>
          <p:nvPr/>
        </p:nvSpPr>
        <p:spPr>
          <a:xfrm>
            <a:off x="8112157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9" name="comex1">
            <a:extLst>
              <a:ext uri="{FF2B5EF4-FFF2-40B4-BE49-F238E27FC236}">
                <a16:creationId xmlns:a16="http://schemas.microsoft.com/office/drawing/2014/main" id="{5BCE2745-99A2-4FB3-8A8D-583A7A55429E}"/>
              </a:ext>
            </a:extLst>
          </p:cNvPr>
          <p:cNvSpPr/>
          <p:nvPr/>
        </p:nvSpPr>
        <p:spPr>
          <a:xfrm>
            <a:off x="8112157" y="1723601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00B0F0"/>
                </a:solidFill>
              </a:rPr>
              <a:t>En</a:t>
            </a:r>
            <a:r>
              <a:rPr lang="en-US" sz="1200" dirty="0">
                <a:solidFill>
                  <a:srgbClr val="00B0F0"/>
                </a:solidFill>
              </a:rPr>
              <a:t> el area de checkout el </a:t>
            </a:r>
            <a:r>
              <a:rPr lang="en-US" sz="1200" dirty="0" err="1">
                <a:solidFill>
                  <a:srgbClr val="00B0F0"/>
                </a:solidFill>
              </a:rPr>
              <a:t>cliente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interactua</a:t>
            </a:r>
            <a:r>
              <a:rPr lang="en-US" sz="1200" dirty="0">
                <a:solidFill>
                  <a:srgbClr val="00B0F0"/>
                </a:solidFill>
              </a:rPr>
              <a:t> el 92 % con los </a:t>
            </a:r>
            <a:r>
              <a:rPr lang="en-US" sz="1200" dirty="0" err="1">
                <a:solidFill>
                  <a:srgbClr val="00B0F0"/>
                </a:solidFill>
              </a:rPr>
              <a:t>muebles</a:t>
            </a:r>
            <a:r>
              <a:rPr lang="en-US" sz="1200" dirty="0">
                <a:solidFill>
                  <a:srgbClr val="00B0F0"/>
                </a:solidFill>
              </a:rPr>
              <a:t> de </a:t>
            </a:r>
            <a:r>
              <a:rPr lang="en-US" sz="1200" dirty="0" err="1">
                <a:solidFill>
                  <a:srgbClr val="00B0F0"/>
                </a:solidFill>
              </a:rPr>
              <a:t>impulso</a:t>
            </a:r>
            <a:endParaRPr lang="es-MX" sz="1200" dirty="0">
              <a:solidFill>
                <a:srgbClr val="00B0F0"/>
              </a:solidFill>
            </a:endParaRPr>
          </a:p>
        </p:txBody>
      </p:sp>
      <p:sp>
        <p:nvSpPr>
          <p:cNvPr id="140" name="tapa1">
            <a:extLst>
              <a:ext uri="{FF2B5EF4-FFF2-40B4-BE49-F238E27FC236}">
                <a16:creationId xmlns:a16="http://schemas.microsoft.com/office/drawing/2014/main" id="{C3F09DF0-0EED-4CAD-B4BF-BD37E0C05219}"/>
              </a:ext>
            </a:extLst>
          </p:cNvPr>
          <p:cNvSpPr/>
          <p:nvPr/>
        </p:nvSpPr>
        <p:spPr>
          <a:xfrm>
            <a:off x="8112157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1" name="comex1">
            <a:extLst>
              <a:ext uri="{FF2B5EF4-FFF2-40B4-BE49-F238E27FC236}">
                <a16:creationId xmlns:a16="http://schemas.microsoft.com/office/drawing/2014/main" id="{720FAC3A-95EF-4C3E-B136-FECE710A9BDB}"/>
              </a:ext>
            </a:extLst>
          </p:cNvPr>
          <p:cNvSpPr/>
          <p:nvPr/>
        </p:nvSpPr>
        <p:spPr>
          <a:xfrm>
            <a:off x="8112157" y="2997585"/>
            <a:ext cx="1463040" cy="914400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2" name="tapa1">
            <a:extLst>
              <a:ext uri="{FF2B5EF4-FFF2-40B4-BE49-F238E27FC236}">
                <a16:creationId xmlns:a16="http://schemas.microsoft.com/office/drawing/2014/main" id="{D7EBB994-7E2A-478F-A3A5-9B7F2B1FE0AA}"/>
              </a:ext>
            </a:extLst>
          </p:cNvPr>
          <p:cNvSpPr/>
          <p:nvPr/>
        </p:nvSpPr>
        <p:spPr>
          <a:xfrm>
            <a:off x="8112157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3" name="comex1">
            <a:extLst>
              <a:ext uri="{FF2B5EF4-FFF2-40B4-BE49-F238E27FC236}">
                <a16:creationId xmlns:a16="http://schemas.microsoft.com/office/drawing/2014/main" id="{F152A3D6-A0B3-4293-8E5C-0FDEF177E6A3}"/>
              </a:ext>
            </a:extLst>
          </p:cNvPr>
          <p:cNvSpPr/>
          <p:nvPr/>
        </p:nvSpPr>
        <p:spPr>
          <a:xfrm>
            <a:off x="8112157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Vista general interior</a:t>
            </a:r>
            <a:endParaRPr lang="es-MX" dirty="0">
              <a:solidFill>
                <a:srgbClr val="00B0F0"/>
              </a:solidFill>
            </a:endParaRPr>
          </a:p>
        </p:txBody>
      </p:sp>
      <p:sp>
        <p:nvSpPr>
          <p:cNvPr id="144" name="tapa1">
            <a:extLst>
              <a:ext uri="{FF2B5EF4-FFF2-40B4-BE49-F238E27FC236}">
                <a16:creationId xmlns:a16="http://schemas.microsoft.com/office/drawing/2014/main" id="{B80D8DED-2B12-4647-B239-77C4F03F2F56}"/>
              </a:ext>
            </a:extLst>
          </p:cNvPr>
          <p:cNvSpPr/>
          <p:nvPr/>
        </p:nvSpPr>
        <p:spPr>
          <a:xfrm>
            <a:off x="8112157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5" name="comex1">
            <a:extLst>
              <a:ext uri="{FF2B5EF4-FFF2-40B4-BE49-F238E27FC236}">
                <a16:creationId xmlns:a16="http://schemas.microsoft.com/office/drawing/2014/main" id="{E3BE1796-4995-491F-9A82-E021F14E2FB7}"/>
              </a:ext>
            </a:extLst>
          </p:cNvPr>
          <p:cNvSpPr/>
          <p:nvPr/>
        </p:nvSpPr>
        <p:spPr>
          <a:xfrm>
            <a:off x="8112157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dirty="0" err="1">
                <a:solidFill>
                  <a:srgbClr val="00B0F0"/>
                </a:solidFill>
              </a:rPr>
              <a:t>Sobre</a:t>
            </a:r>
            <a:r>
              <a:rPr lang="en-US" sz="1250" dirty="0">
                <a:solidFill>
                  <a:srgbClr val="00B0F0"/>
                </a:solidFill>
              </a:rPr>
              <a:t> el </a:t>
            </a:r>
            <a:r>
              <a:rPr lang="en-US" sz="1250" dirty="0" err="1">
                <a:solidFill>
                  <a:srgbClr val="00B0F0"/>
                </a:solidFill>
              </a:rPr>
              <a:t>mostrador</a:t>
            </a:r>
            <a:r>
              <a:rPr lang="en-US" sz="1250" dirty="0">
                <a:solidFill>
                  <a:srgbClr val="00B0F0"/>
                </a:solidFill>
              </a:rPr>
              <a:t>, </a:t>
            </a:r>
            <a:r>
              <a:rPr lang="en-US" sz="1250" dirty="0" err="1">
                <a:solidFill>
                  <a:srgbClr val="00B0F0"/>
                </a:solidFill>
              </a:rPr>
              <a:t>levemente</a:t>
            </a:r>
            <a:r>
              <a:rPr lang="en-US" sz="1250" dirty="0">
                <a:solidFill>
                  <a:srgbClr val="00B0F0"/>
                </a:solidFill>
              </a:rPr>
              <a:t> </a:t>
            </a:r>
            <a:r>
              <a:rPr lang="en-US" sz="1250" dirty="0" err="1">
                <a:solidFill>
                  <a:srgbClr val="00B0F0"/>
                </a:solidFill>
              </a:rPr>
              <a:t>girada</a:t>
            </a:r>
            <a:r>
              <a:rPr lang="en-US" sz="1250" dirty="0">
                <a:solidFill>
                  <a:srgbClr val="00B0F0"/>
                </a:solidFill>
              </a:rPr>
              <a:t> </a:t>
            </a:r>
            <a:r>
              <a:rPr lang="en-US" sz="1250" dirty="0" err="1">
                <a:solidFill>
                  <a:srgbClr val="00B0F0"/>
                </a:solidFill>
              </a:rPr>
              <a:t>en</a:t>
            </a:r>
            <a:r>
              <a:rPr lang="en-US" sz="1250" dirty="0">
                <a:solidFill>
                  <a:srgbClr val="00B0F0"/>
                </a:solidFill>
              </a:rPr>
              <a:t> un Angulo de 45%</a:t>
            </a:r>
            <a:endParaRPr lang="es-MX" sz="1250" dirty="0">
              <a:solidFill>
                <a:srgbClr val="00B0F0"/>
              </a:solidFill>
            </a:endParaRPr>
          </a:p>
        </p:txBody>
      </p:sp>
      <p:sp>
        <p:nvSpPr>
          <p:cNvPr id="146" name="tapa1">
            <a:extLst>
              <a:ext uri="{FF2B5EF4-FFF2-40B4-BE49-F238E27FC236}">
                <a16:creationId xmlns:a16="http://schemas.microsoft.com/office/drawing/2014/main" id="{38B207A3-DCD0-4559-90AE-D0CE400ABEF6}"/>
              </a:ext>
            </a:extLst>
          </p:cNvPr>
          <p:cNvSpPr/>
          <p:nvPr/>
        </p:nvSpPr>
        <p:spPr>
          <a:xfrm>
            <a:off x="8112157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7" name="comex1">
            <a:extLst>
              <a:ext uri="{FF2B5EF4-FFF2-40B4-BE49-F238E27FC236}">
                <a16:creationId xmlns:a16="http://schemas.microsoft.com/office/drawing/2014/main" id="{F065884D-87DF-4983-8D22-55CE776F05BF}"/>
              </a:ext>
            </a:extLst>
          </p:cNvPr>
          <p:cNvSpPr/>
          <p:nvPr/>
        </p:nvSpPr>
        <p:spPr>
          <a:xfrm>
            <a:off x="9969070" y="449617"/>
            <a:ext cx="1463040" cy="914400"/>
          </a:xfrm>
          <a:prstGeom prst="rect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8" name="tapa1">
            <a:extLst>
              <a:ext uri="{FF2B5EF4-FFF2-40B4-BE49-F238E27FC236}">
                <a16:creationId xmlns:a16="http://schemas.microsoft.com/office/drawing/2014/main" id="{C9EE90B7-9F08-409A-A49F-4ACD93CFBA37}"/>
              </a:ext>
            </a:extLst>
          </p:cNvPr>
          <p:cNvSpPr/>
          <p:nvPr/>
        </p:nvSpPr>
        <p:spPr>
          <a:xfrm>
            <a:off x="9969070" y="4496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9" name="comex1">
            <a:extLst>
              <a:ext uri="{FF2B5EF4-FFF2-40B4-BE49-F238E27FC236}">
                <a16:creationId xmlns:a16="http://schemas.microsoft.com/office/drawing/2014/main" id="{ECD6546F-577A-45B7-8BA4-3A24DABE9D20}"/>
              </a:ext>
            </a:extLst>
          </p:cNvPr>
          <p:cNvSpPr/>
          <p:nvPr/>
        </p:nvSpPr>
        <p:spPr>
          <a:xfrm>
            <a:off x="9969070" y="1723601"/>
            <a:ext cx="1463040" cy="914400"/>
          </a:xfrm>
          <a:prstGeom prst="rect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0" name="tapa1">
            <a:extLst>
              <a:ext uri="{FF2B5EF4-FFF2-40B4-BE49-F238E27FC236}">
                <a16:creationId xmlns:a16="http://schemas.microsoft.com/office/drawing/2014/main" id="{8D1B961E-FA92-44AE-99C7-86205509FAFA}"/>
              </a:ext>
            </a:extLst>
          </p:cNvPr>
          <p:cNvSpPr/>
          <p:nvPr/>
        </p:nvSpPr>
        <p:spPr>
          <a:xfrm>
            <a:off x="9969070" y="1723601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1" name="comex1">
            <a:extLst>
              <a:ext uri="{FF2B5EF4-FFF2-40B4-BE49-F238E27FC236}">
                <a16:creationId xmlns:a16="http://schemas.microsoft.com/office/drawing/2014/main" id="{D434396F-8174-4ED9-AD8A-8977BA49CDFC}"/>
              </a:ext>
            </a:extLst>
          </p:cNvPr>
          <p:cNvSpPr/>
          <p:nvPr/>
        </p:nvSpPr>
        <p:spPr>
          <a:xfrm>
            <a:off x="9969070" y="2997585"/>
            <a:ext cx="1463040" cy="914400"/>
          </a:xfrm>
          <a:prstGeom prst="rect">
            <a:avLst/>
          </a:prstGeom>
          <a:blipFill dpi="0"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2" name="tapa1">
            <a:extLst>
              <a:ext uri="{FF2B5EF4-FFF2-40B4-BE49-F238E27FC236}">
                <a16:creationId xmlns:a16="http://schemas.microsoft.com/office/drawing/2014/main" id="{C4D785CF-0F90-495D-A1C1-194D2B94C433}"/>
              </a:ext>
            </a:extLst>
          </p:cNvPr>
          <p:cNvSpPr/>
          <p:nvPr/>
        </p:nvSpPr>
        <p:spPr>
          <a:xfrm>
            <a:off x="9969070" y="2997585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3" name="comex1">
            <a:extLst>
              <a:ext uri="{FF2B5EF4-FFF2-40B4-BE49-F238E27FC236}">
                <a16:creationId xmlns:a16="http://schemas.microsoft.com/office/drawing/2014/main" id="{241FDBF0-3511-4BCA-B0A0-7A5A1E700E95}"/>
              </a:ext>
            </a:extLst>
          </p:cNvPr>
          <p:cNvSpPr/>
          <p:nvPr/>
        </p:nvSpPr>
        <p:spPr>
          <a:xfrm>
            <a:off x="9969070" y="4271569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Vista interior, </a:t>
            </a:r>
            <a:r>
              <a:rPr lang="en-US" dirty="0" err="1">
                <a:solidFill>
                  <a:srgbClr val="00B0F0"/>
                </a:solidFill>
              </a:rPr>
              <a:t>cheout</a:t>
            </a:r>
            <a:r>
              <a:rPr lang="en-US" dirty="0">
                <a:solidFill>
                  <a:srgbClr val="00B0F0"/>
                </a:solidFill>
              </a:rPr>
              <a:t> y </a:t>
            </a:r>
            <a:r>
              <a:rPr lang="en-US" dirty="0" err="1">
                <a:solidFill>
                  <a:srgbClr val="00B0F0"/>
                </a:solidFill>
              </a:rPr>
              <a:t>caja</a:t>
            </a:r>
            <a:endParaRPr lang="es-MX" dirty="0">
              <a:solidFill>
                <a:srgbClr val="00B0F0"/>
              </a:solidFill>
            </a:endParaRPr>
          </a:p>
        </p:txBody>
      </p:sp>
      <p:sp>
        <p:nvSpPr>
          <p:cNvPr id="154" name="tapa1">
            <a:extLst>
              <a:ext uri="{FF2B5EF4-FFF2-40B4-BE49-F238E27FC236}">
                <a16:creationId xmlns:a16="http://schemas.microsoft.com/office/drawing/2014/main" id="{7D42CBCA-B048-4880-82A0-190DD207BD0D}"/>
              </a:ext>
            </a:extLst>
          </p:cNvPr>
          <p:cNvSpPr/>
          <p:nvPr/>
        </p:nvSpPr>
        <p:spPr>
          <a:xfrm>
            <a:off x="9969070" y="4271569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5" name="comex1">
            <a:extLst>
              <a:ext uri="{FF2B5EF4-FFF2-40B4-BE49-F238E27FC236}">
                <a16:creationId xmlns:a16="http://schemas.microsoft.com/office/drawing/2014/main" id="{F638F258-9EB7-4851-9B77-283CF1E2C3D5}"/>
              </a:ext>
            </a:extLst>
          </p:cNvPr>
          <p:cNvSpPr/>
          <p:nvPr/>
        </p:nvSpPr>
        <p:spPr>
          <a:xfrm>
            <a:off x="9969070" y="5525017"/>
            <a:ext cx="14630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Vista interior, area de </a:t>
            </a:r>
            <a:r>
              <a:rPr lang="en-US" sz="1400" dirty="0" err="1">
                <a:solidFill>
                  <a:srgbClr val="00B0F0"/>
                </a:solidFill>
              </a:rPr>
              <a:t>inspiracion</a:t>
            </a:r>
            <a:r>
              <a:rPr lang="en-US" sz="1400" dirty="0">
                <a:solidFill>
                  <a:srgbClr val="00B0F0"/>
                </a:solidFill>
              </a:rPr>
              <a:t> y color</a:t>
            </a:r>
            <a:endParaRPr lang="es-MX" sz="1400" dirty="0">
              <a:solidFill>
                <a:srgbClr val="00B0F0"/>
              </a:solidFill>
            </a:endParaRPr>
          </a:p>
        </p:txBody>
      </p:sp>
      <p:sp>
        <p:nvSpPr>
          <p:cNvPr id="156" name="tapa1">
            <a:extLst>
              <a:ext uri="{FF2B5EF4-FFF2-40B4-BE49-F238E27FC236}">
                <a16:creationId xmlns:a16="http://schemas.microsoft.com/office/drawing/2014/main" id="{F7512810-6419-4504-8898-F8CCFB8B119E}"/>
              </a:ext>
            </a:extLst>
          </p:cNvPr>
          <p:cNvSpPr/>
          <p:nvPr/>
        </p:nvSpPr>
        <p:spPr>
          <a:xfrm>
            <a:off x="9969070" y="5525017"/>
            <a:ext cx="1463040" cy="914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485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1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0" grpId="0" animBg="1"/>
      <p:bldP spid="100" grpId="1" animBg="1"/>
      <p:bldP spid="102" grpId="0" animBg="1"/>
      <p:bldP spid="102" grpId="1" animBg="1"/>
      <p:bldP spid="104" grpId="0" animBg="1"/>
      <p:bldP spid="104" grpId="1" animBg="1"/>
      <p:bldP spid="106" grpId="0" animBg="1"/>
      <p:bldP spid="106" grpId="1" animBg="1"/>
      <p:bldP spid="108" grpId="0" animBg="1"/>
      <p:bldP spid="108" grpId="1" animBg="1"/>
      <p:bldP spid="110" grpId="0" animBg="1"/>
      <p:bldP spid="110" grpId="1" animBg="1"/>
      <p:bldP spid="112" grpId="0" animBg="1"/>
      <p:bldP spid="112" grpId="1" animBg="1"/>
      <p:bldP spid="114" grpId="0" animBg="1"/>
      <p:bldP spid="114" grpId="1" animBg="1"/>
      <p:bldP spid="116" grpId="0" animBg="1"/>
      <p:bldP spid="116" grpId="1" animBg="1"/>
      <p:bldP spid="118" grpId="0" animBg="1"/>
      <p:bldP spid="118" grpId="1" animBg="1"/>
      <p:bldP spid="120" grpId="0" animBg="1"/>
      <p:bldP spid="120" grpId="1" animBg="1"/>
      <p:bldP spid="122" grpId="0" animBg="1"/>
      <p:bldP spid="122" grpId="1" animBg="1"/>
      <p:bldP spid="124" grpId="0" animBg="1"/>
      <p:bldP spid="124" grpId="1" animBg="1"/>
      <p:bldP spid="126" grpId="0" animBg="1"/>
      <p:bldP spid="126" grpId="1" animBg="1"/>
      <p:bldP spid="128" grpId="0" animBg="1"/>
      <p:bldP spid="128" grpId="1" animBg="1"/>
      <p:bldP spid="130" grpId="0" animBg="1"/>
      <p:bldP spid="130" grpId="1" animBg="1"/>
      <p:bldP spid="132" grpId="0" animBg="1"/>
      <p:bldP spid="132" grpId="1" animBg="1"/>
      <p:bldP spid="134" grpId="0" animBg="1"/>
      <p:bldP spid="134" grpId="1" animBg="1"/>
      <p:bldP spid="136" grpId="0" animBg="1"/>
      <p:bldP spid="136" grpId="1" animBg="1"/>
      <p:bldP spid="138" grpId="0" animBg="1"/>
      <p:bldP spid="138" grpId="1" animBg="1"/>
      <p:bldP spid="140" grpId="0" animBg="1"/>
      <p:bldP spid="140" grpId="1" animBg="1"/>
      <p:bldP spid="142" grpId="0" animBg="1"/>
      <p:bldP spid="142" grpId="1" animBg="1"/>
      <p:bldP spid="144" grpId="0" animBg="1"/>
      <p:bldP spid="144" grpId="1" animBg="1"/>
      <p:bldP spid="146" grpId="0" animBg="1"/>
      <p:bldP spid="146" grpId="1" animBg="1"/>
      <p:bldP spid="148" grpId="0" animBg="1"/>
      <p:bldP spid="148" grpId="1" animBg="1"/>
      <p:bldP spid="150" grpId="0" animBg="1"/>
      <p:bldP spid="150" grpId="1" animBg="1"/>
      <p:bldP spid="152" grpId="0" animBg="1"/>
      <p:bldP spid="152" grpId="1" animBg="1"/>
      <p:bldP spid="154" grpId="0" animBg="1"/>
      <p:bldP spid="154" grpId="1" animBg="1"/>
      <p:bldP spid="156" grpId="0" animBg="1"/>
      <p:bldP spid="156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Braulio Dominguez</dc:creator>
  <cp:lastModifiedBy>Braulio Dominguez</cp:lastModifiedBy>
  <cp:revision>13</cp:revision>
  <dcterms:created xsi:type="dcterms:W3CDTF">2020-08-31T02:13:02Z</dcterms:created>
  <dcterms:modified xsi:type="dcterms:W3CDTF">2020-08-31T21:42:15Z</dcterms:modified>
</cp:coreProperties>
</file>